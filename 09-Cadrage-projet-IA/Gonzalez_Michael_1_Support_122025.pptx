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59" r:id="rId7"/>
    <p:sldId id="260" r:id="rId8"/>
    <p:sldId id="266" r:id="rId9"/>
    <p:sldId id="261" r:id="rId10"/>
    <p:sldId id="268" r:id="rId11"/>
    <p:sldId id="269" r:id="rId12"/>
    <p:sldId id="273" r:id="rId13"/>
    <p:sldId id="271" r:id="rId14"/>
    <p:sldId id="272" r:id="rId15"/>
    <p:sldId id="274" r:id="rId16"/>
    <p:sldId id="262" r:id="rId17"/>
    <p:sldId id="275" r:id="rId18"/>
    <p:sldId id="278" r:id="rId19"/>
    <p:sldId id="280" r:id="rId20"/>
    <p:sldId id="281" r:id="rId21"/>
    <p:sldId id="277" r:id="rId22"/>
    <p:sldId id="283" r:id="rId23"/>
    <p:sldId id="282" r:id="rId24"/>
    <p:sldId id="263" r:id="rId2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8" autoAdjust="0"/>
    <p:restoredTop sz="97399" autoAdjust="0"/>
  </p:normalViewPr>
  <p:slideViewPr>
    <p:cSldViewPr snapToGrid="0">
      <p:cViewPr varScale="1">
        <p:scale>
          <a:sx n="110" d="100"/>
          <a:sy n="110" d="100"/>
        </p:scale>
        <p:origin x="138" y="312"/>
      </p:cViewPr>
      <p:guideLst/>
    </p:cSldViewPr>
  </p:slideViewPr>
  <p:outlineViewPr>
    <p:cViewPr>
      <p:scale>
        <a:sx n="33" d="100"/>
        <a:sy n="33" d="100"/>
      </p:scale>
      <p:origin x="0" y="-19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122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A090D19F-9EE3-43D8-9670-6A58E05C31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0D55E1F-C225-46B0-8D02-A7F01D1EE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A15F832-1941-4E13-B584-615A6571024D}" type="datetime1">
              <a:rPr lang="fr-FR" smtClean="0"/>
              <a:t>30/12/2025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CF677B-DDC3-4004-9B1B-95E07E15D2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D43975-40E2-4F98-BE43-D14876F36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8BC8066-2EF6-4176-9ACB-F71BDAE9FFE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40328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BA870C9-C484-458B-B62D-F6ECC3EFBCD7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EA54082-0EDA-40C0-B23E-AB88047B2438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250936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111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75420" y="2493085"/>
            <a:ext cx="4971618" cy="2033753"/>
          </a:xfrm>
        </p:spPr>
        <p:txBody>
          <a:bodyPr rtlCol="0" anchor="ctr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fr-FR" noProof="0" dirty="0"/>
              <a:t>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569348" y="2493085"/>
            <a:ext cx="4984220" cy="203375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Sous-titre</a:t>
            </a:r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6108192" y="2842697"/>
            <a:ext cx="0" cy="133453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 descr="Bordure de rectangle colorée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Rectangle 9" descr="Bordure de rectangle colorée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 descr="Bordure de rectangle colorée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2" name="Rectangle 11" descr="Bordure de rectangle colorée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9770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1610211"/>
            <a:ext cx="6934201" cy="96547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838201" y="2727433"/>
            <a:ext cx="6934200" cy="2585545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Corps de texte</a:t>
            </a:r>
          </a:p>
        </p:txBody>
      </p:sp>
      <p:sp>
        <p:nvSpPr>
          <p:cNvPr id="7" name="Rectangle 6" descr="Bordure de rectangle colorée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Rectangle 7" descr="Bordure de rectangle colorée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Rectangle 8" descr="Bordure de rectangle colorée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Rectangle 9" descr="Bordure de rectangle colorée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0591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 mo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926758" y="2380595"/>
            <a:ext cx="4748828" cy="450383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850392" algn="ctr"/>
                <a:tab pos="1545336" algn="ctr"/>
                <a:tab pos="2240280" algn="ctr"/>
                <a:tab pos="2926080" algn="ctr"/>
                <a:tab pos="3621024" algn="ctr"/>
                <a:tab pos="4315968" algn="ctr"/>
              </a:tabLst>
              <a:defRPr sz="2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558454" y="2317530"/>
            <a:ext cx="4795345" cy="4083269"/>
          </a:xfrm>
        </p:spPr>
        <p:txBody>
          <a:bodyPr rtlCol="0">
            <a:normAutofit/>
          </a:bodyPr>
          <a:lstStyle>
            <a:lvl1pPr marL="0" indent="0">
              <a:lnSpc>
                <a:spcPct val="137000"/>
              </a:lnSpc>
              <a:spcBef>
                <a:spcPts val="0"/>
              </a:spcBef>
              <a:buNone/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Mois</a:t>
            </a:r>
          </a:p>
        </p:txBody>
      </p:sp>
      <p:grpSp>
        <p:nvGrpSpPr>
          <p:cNvPr id="23" name="Groupe 22" descr="Lignes en pointillés"/>
          <p:cNvGrpSpPr/>
          <p:nvPr userDrawn="1"/>
        </p:nvGrpSpPr>
        <p:grpSpPr>
          <a:xfrm>
            <a:off x="6557963" y="2680139"/>
            <a:ext cx="4795836" cy="3565213"/>
            <a:chOff x="6557963" y="2680139"/>
            <a:chExt cx="4795836" cy="3565213"/>
          </a:xfrm>
        </p:grpSpPr>
        <p:cxnSp>
          <p:nvCxnSpPr>
            <p:cNvPr id="11" name="Connecteur droit 10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 userDrawn="1"/>
        </p:nvSpPr>
        <p:spPr>
          <a:xfrm>
            <a:off x="838200" y="1618737"/>
            <a:ext cx="4837386" cy="548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2000" noProof="0" dirty="0"/>
              <a:t>Texte</a:t>
            </a:r>
          </a:p>
        </p:txBody>
      </p:sp>
      <p:grpSp>
        <p:nvGrpSpPr>
          <p:cNvPr id="25" name="Groupe 24" descr="Formes circulaires"/>
          <p:cNvGrpSpPr/>
          <p:nvPr userDrawn="1"/>
        </p:nvGrpSpPr>
        <p:grpSpPr>
          <a:xfrm>
            <a:off x="987552" y="3151398"/>
            <a:ext cx="4471416" cy="2875416"/>
            <a:chOff x="987552" y="3151398"/>
            <a:chExt cx="4471416" cy="2875416"/>
          </a:xfrm>
        </p:grpSpPr>
        <p:grpSp>
          <p:nvGrpSpPr>
            <p:cNvPr id="26" name="Groupe 25"/>
            <p:cNvGrpSpPr/>
            <p:nvPr/>
          </p:nvGrpSpPr>
          <p:grpSpPr>
            <a:xfrm>
              <a:off x="987552" y="3151398"/>
              <a:ext cx="4471416" cy="310901"/>
              <a:chOff x="987552" y="3151398"/>
              <a:chExt cx="4471416" cy="310901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987552" y="315140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682496" y="315140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774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30632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758184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4453128" y="315139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5148072" y="315139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7" name="Groupe 26"/>
            <p:cNvGrpSpPr/>
            <p:nvPr/>
          </p:nvGrpSpPr>
          <p:grpSpPr>
            <a:xfrm>
              <a:off x="987552" y="3792532"/>
              <a:ext cx="4471416" cy="310901"/>
              <a:chOff x="987552" y="3792532"/>
              <a:chExt cx="4471416" cy="310901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987552" y="379253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682496" y="379253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3774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0632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758184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4453128" y="379253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148072" y="379253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8" name="Groupe 27"/>
            <p:cNvGrpSpPr/>
            <p:nvPr/>
          </p:nvGrpSpPr>
          <p:grpSpPr>
            <a:xfrm>
              <a:off x="987552" y="4433661"/>
              <a:ext cx="4471416" cy="310901"/>
              <a:chOff x="987552" y="4433661"/>
              <a:chExt cx="4471416" cy="310901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87552" y="443366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682496" y="443366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3774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0632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3758184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4453128" y="443366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148072" y="4433661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9" name="Groupe 28"/>
            <p:cNvGrpSpPr/>
            <p:nvPr/>
          </p:nvGrpSpPr>
          <p:grpSpPr>
            <a:xfrm>
              <a:off x="987552" y="5074788"/>
              <a:ext cx="4471416" cy="310901"/>
              <a:chOff x="987552" y="5074788"/>
              <a:chExt cx="4471416" cy="310901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87552" y="507479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682496" y="507479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3774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0632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3758184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453128" y="507478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148072" y="507478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30" name="Groupe 29"/>
            <p:cNvGrpSpPr/>
            <p:nvPr/>
          </p:nvGrpSpPr>
          <p:grpSpPr>
            <a:xfrm>
              <a:off x="987552" y="5715913"/>
              <a:ext cx="4471416" cy="310901"/>
              <a:chOff x="987552" y="5715913"/>
              <a:chExt cx="4471416" cy="310901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87552" y="571591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682496" y="571591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3774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0632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3758184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4453128" y="571591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148072" y="571591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214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ois mo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96112" y="2929835"/>
            <a:ext cx="3310128" cy="369421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442460" y="2930778"/>
            <a:ext cx="3310128" cy="362604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Mois</a:t>
            </a:r>
          </a:p>
        </p:txBody>
      </p:sp>
      <p:sp>
        <p:nvSpPr>
          <p:cNvPr id="6" name="Espace réservé du contenu 3"/>
          <p:cNvSpPr>
            <a:spLocks noGrp="1"/>
          </p:cNvSpPr>
          <p:nvPr>
            <p:ph sz="half" idx="11" hasCustomPrompt="1"/>
          </p:nvPr>
        </p:nvSpPr>
        <p:spPr>
          <a:xfrm>
            <a:off x="7988808" y="2929835"/>
            <a:ext cx="3310128" cy="369421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13486" y="1915303"/>
            <a:ext cx="3364993" cy="7537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364076" y="1915303"/>
            <a:ext cx="3364992" cy="7537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914665" y="1920240"/>
            <a:ext cx="3364992" cy="7537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grpSp>
        <p:nvGrpSpPr>
          <p:cNvPr id="11" name="Groupe 10" descr="Formes circulaires"/>
          <p:cNvGrpSpPr/>
          <p:nvPr userDrawn="1"/>
        </p:nvGrpSpPr>
        <p:grpSpPr>
          <a:xfrm>
            <a:off x="964478" y="3558746"/>
            <a:ext cx="3082157" cy="2218040"/>
            <a:chOff x="976835" y="3558746"/>
            <a:chExt cx="3082157" cy="2218040"/>
          </a:xfrm>
        </p:grpSpPr>
        <p:grpSp>
          <p:nvGrpSpPr>
            <p:cNvPr id="12" name="Groupe 11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3" name="Groupe 12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6" name="Groupe 15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52" name="Groupe 51" descr="Formes circulaires"/>
          <p:cNvGrpSpPr/>
          <p:nvPr userDrawn="1"/>
        </p:nvGrpSpPr>
        <p:grpSpPr>
          <a:xfrm>
            <a:off x="4517850" y="3558746"/>
            <a:ext cx="3082157" cy="2218040"/>
            <a:chOff x="976835" y="3558746"/>
            <a:chExt cx="3082157" cy="2218040"/>
          </a:xfrm>
        </p:grpSpPr>
        <p:grpSp>
          <p:nvGrpSpPr>
            <p:cNvPr id="53" name="Groupe 52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86" name="Oval 8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54" name="Groupe 53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55" name="Groupe 54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56" name="Groupe 55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57" name="Groupe 56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93" name="Groupe 92" descr="Formes circulaires"/>
          <p:cNvGrpSpPr/>
          <p:nvPr userDrawn="1"/>
        </p:nvGrpSpPr>
        <p:grpSpPr>
          <a:xfrm>
            <a:off x="8068440" y="3558746"/>
            <a:ext cx="3082157" cy="2218040"/>
            <a:chOff x="976835" y="3558746"/>
            <a:chExt cx="3082157" cy="2218040"/>
          </a:xfrm>
        </p:grpSpPr>
        <p:grpSp>
          <p:nvGrpSpPr>
            <p:cNvPr id="94" name="Groupe 93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95" name="Groupe 94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96" name="Groupe 95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113" name="Oval 112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106" name="Oval 10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98" name="Groupe 97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99" name="Oval 9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983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it mo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198" y="1877694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541662" y="1877694"/>
            <a:ext cx="2487168" cy="362604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Mois</a:t>
            </a:r>
          </a:p>
        </p:txBody>
      </p:sp>
      <p:sp>
        <p:nvSpPr>
          <p:cNvPr id="6" name="Espace réservé du contenu 3"/>
          <p:cNvSpPr>
            <a:spLocks noGrp="1"/>
          </p:cNvSpPr>
          <p:nvPr>
            <p:ph sz="half" idx="11" hasCustomPrompt="1"/>
          </p:nvPr>
        </p:nvSpPr>
        <p:spPr>
          <a:xfrm>
            <a:off x="6213291" y="1881347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12" hasCustomPrompt="1"/>
          </p:nvPr>
        </p:nvSpPr>
        <p:spPr>
          <a:xfrm>
            <a:off x="8884920" y="1881348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13" name="Rectangle 12"/>
          <p:cNvSpPr/>
          <p:nvPr userDrawn="1"/>
        </p:nvSpPr>
        <p:spPr>
          <a:xfrm>
            <a:off x="838198" y="1355834"/>
            <a:ext cx="2468880" cy="5133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sp>
        <p:nvSpPr>
          <p:cNvPr id="14" name="Rectangle 13"/>
          <p:cNvSpPr/>
          <p:nvPr userDrawn="1"/>
        </p:nvSpPr>
        <p:spPr>
          <a:xfrm>
            <a:off x="3541662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sp>
        <p:nvSpPr>
          <p:cNvPr id="15" name="Rectangle 14"/>
          <p:cNvSpPr/>
          <p:nvPr userDrawn="1"/>
        </p:nvSpPr>
        <p:spPr>
          <a:xfrm>
            <a:off x="6213291" y="1355834"/>
            <a:ext cx="2468880" cy="513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sp>
        <p:nvSpPr>
          <p:cNvPr id="16" name="Rectangle 15"/>
          <p:cNvSpPr/>
          <p:nvPr userDrawn="1"/>
        </p:nvSpPr>
        <p:spPr>
          <a:xfrm>
            <a:off x="8884920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Texte</a:t>
            </a:r>
          </a:p>
        </p:txBody>
      </p:sp>
      <p:grpSp>
        <p:nvGrpSpPr>
          <p:cNvPr id="21" name="Groupe 20" descr="Formes circulaires"/>
          <p:cNvGrpSpPr/>
          <p:nvPr userDrawn="1"/>
        </p:nvGrpSpPr>
        <p:grpSpPr>
          <a:xfrm>
            <a:off x="905433" y="2393577"/>
            <a:ext cx="2358975" cy="1394592"/>
            <a:chOff x="905433" y="2595282"/>
            <a:chExt cx="2358975" cy="1394592"/>
          </a:xfrm>
        </p:grpSpPr>
        <p:grpSp>
          <p:nvGrpSpPr>
            <p:cNvPr id="22" name="Groupe 21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3" name="Groupe 22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4" name="Groupe 23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5" name="Groupe 24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26" name="Groupe 25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62" name="Groupe 61" descr="Formes circulaires"/>
          <p:cNvGrpSpPr/>
          <p:nvPr userDrawn="1"/>
        </p:nvGrpSpPr>
        <p:grpSpPr>
          <a:xfrm>
            <a:off x="6287795" y="2393577"/>
            <a:ext cx="2358975" cy="1394592"/>
            <a:chOff x="905433" y="2595282"/>
            <a:chExt cx="2358975" cy="1394592"/>
          </a:xfrm>
        </p:grpSpPr>
        <p:grpSp>
          <p:nvGrpSpPr>
            <p:cNvPr id="63" name="Groupe 62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96" name="Oval 9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64" name="Groupe 63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89" name="Oval 8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65" name="Groupe 64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66" name="Groupe 65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67" name="Groupe 66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103" name="Groupe 102" descr="Formes circulaires"/>
          <p:cNvGrpSpPr/>
          <p:nvPr userDrawn="1"/>
        </p:nvGrpSpPr>
        <p:grpSpPr>
          <a:xfrm>
            <a:off x="3596614" y="2393621"/>
            <a:ext cx="2358975" cy="1394592"/>
            <a:chOff x="905433" y="2595282"/>
            <a:chExt cx="2358975" cy="1394592"/>
          </a:xfrm>
        </p:grpSpPr>
        <p:grpSp>
          <p:nvGrpSpPr>
            <p:cNvPr id="104" name="Groupe 103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37" name="Oval 13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05" name="Groupe 104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30" name="Oval 12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06" name="Groupe 105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07" name="Groupe 106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08" name="Groupe 107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09" name="Oval 10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144" name="Groupe 143" descr="Formes circulaires"/>
          <p:cNvGrpSpPr/>
          <p:nvPr userDrawn="1"/>
        </p:nvGrpSpPr>
        <p:grpSpPr>
          <a:xfrm>
            <a:off x="8969655" y="2395728"/>
            <a:ext cx="2358975" cy="1394592"/>
            <a:chOff x="905433" y="2595282"/>
            <a:chExt cx="2358975" cy="1394592"/>
          </a:xfrm>
        </p:grpSpPr>
        <p:grpSp>
          <p:nvGrpSpPr>
            <p:cNvPr id="145" name="Groupe 144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78" name="Oval 17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46" name="Groupe 145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71" name="Oval 17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47" name="Groupe 146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64" name="Oval 16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48" name="Groupe 147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57" name="Oval 15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  <p:grpSp>
          <p:nvGrpSpPr>
            <p:cNvPr id="149" name="Groupe 148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50" name="Oval 14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 dirty="0"/>
              </a:p>
            </p:txBody>
          </p:sp>
        </p:grpSp>
      </p:grpSp>
      <p:grpSp>
        <p:nvGrpSpPr>
          <p:cNvPr id="349" name="Groupe 348" descr="Lignes en pointillés"/>
          <p:cNvGrpSpPr/>
          <p:nvPr userDrawn="1"/>
        </p:nvGrpSpPr>
        <p:grpSpPr>
          <a:xfrm>
            <a:off x="896377" y="4239037"/>
            <a:ext cx="2384144" cy="2121587"/>
            <a:chOff x="6557963" y="2680139"/>
            <a:chExt cx="4795836" cy="3565213"/>
          </a:xfrm>
        </p:grpSpPr>
        <p:cxnSp>
          <p:nvCxnSpPr>
            <p:cNvPr id="350" name="Connecteur droit 349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Connecteur droit 350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Connecteur droit 351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Connecteur droit 352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Connecteur droit 353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necteur droit 354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necteur droit 355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necteur droit 356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necteur droit 357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necteur droit 358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necteur droit 359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2" name="Groupe 361" descr="Lignes en pointillés"/>
          <p:cNvGrpSpPr/>
          <p:nvPr userDrawn="1"/>
        </p:nvGrpSpPr>
        <p:grpSpPr>
          <a:xfrm>
            <a:off x="3599840" y="4239037"/>
            <a:ext cx="2384144" cy="2121587"/>
            <a:chOff x="6557963" y="2680139"/>
            <a:chExt cx="4795836" cy="3565213"/>
          </a:xfrm>
        </p:grpSpPr>
        <p:cxnSp>
          <p:nvCxnSpPr>
            <p:cNvPr id="363" name="Connecteur droit 362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eur droit 363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Connecteur droit 364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Connecteur droit 365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eur droit 366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necteur droit 367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Connecteur droit 368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necteur droit 369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necteur droit 370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Connecteur droit 371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Connecteur droit 372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5" name="Groupe 374" descr="Lignes en pointillés"/>
          <p:cNvGrpSpPr/>
          <p:nvPr userDrawn="1"/>
        </p:nvGrpSpPr>
        <p:grpSpPr>
          <a:xfrm>
            <a:off x="6298027" y="4239037"/>
            <a:ext cx="2384144" cy="2121587"/>
            <a:chOff x="6557963" y="2680139"/>
            <a:chExt cx="4795836" cy="3565213"/>
          </a:xfrm>
        </p:grpSpPr>
        <p:cxnSp>
          <p:nvCxnSpPr>
            <p:cNvPr id="376" name="Connecteur droit 375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Connecteur droit 378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Connecteur droit 379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Connecteur droit 380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Connecteur droit 381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Connecteur droit 382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Connecteur droit 383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Connecteur droit 384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Connecteur droit 385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e 400" descr="Lignes en pointillés"/>
          <p:cNvGrpSpPr/>
          <p:nvPr userDrawn="1"/>
        </p:nvGrpSpPr>
        <p:grpSpPr>
          <a:xfrm>
            <a:off x="8996214" y="4232850"/>
            <a:ext cx="2384144" cy="2121587"/>
            <a:chOff x="6557963" y="2680139"/>
            <a:chExt cx="4795836" cy="3565213"/>
          </a:xfrm>
        </p:grpSpPr>
        <p:cxnSp>
          <p:nvCxnSpPr>
            <p:cNvPr id="402" name="Connecteur droit 401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cteur droit 402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eur droit 403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404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necteur droit 405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necteur droit 40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necteur droit 40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cteur droit 40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cteur droit 40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necteur droit 41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necteur droit 41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Espace réservé du texte 360"/>
          <p:cNvSpPr>
            <a:spLocks noGrp="1"/>
          </p:cNvSpPr>
          <p:nvPr>
            <p:ph type="body" sz="quarter" idx="13" hasCustomPrompt="1"/>
          </p:nvPr>
        </p:nvSpPr>
        <p:spPr>
          <a:xfrm>
            <a:off x="844865" y="3983201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374" name="Espace réservé du texte 360"/>
          <p:cNvSpPr>
            <a:spLocks noGrp="1"/>
          </p:cNvSpPr>
          <p:nvPr>
            <p:ph type="body" sz="quarter" idx="14" hasCustomPrompt="1"/>
          </p:nvPr>
        </p:nvSpPr>
        <p:spPr>
          <a:xfrm>
            <a:off x="3541662" y="3989388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387" name="Espace réservé du texte 360"/>
          <p:cNvSpPr>
            <a:spLocks noGrp="1"/>
          </p:cNvSpPr>
          <p:nvPr>
            <p:ph type="body" sz="quarter" idx="15" hasCustomPrompt="1"/>
          </p:nvPr>
        </p:nvSpPr>
        <p:spPr>
          <a:xfrm>
            <a:off x="6239849" y="3989388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  <p:sp>
        <p:nvSpPr>
          <p:cNvPr id="413" name="Espace réservé du texte 360"/>
          <p:cNvSpPr>
            <a:spLocks noGrp="1"/>
          </p:cNvSpPr>
          <p:nvPr>
            <p:ph type="body" sz="quarter" idx="16" hasCustomPrompt="1"/>
          </p:nvPr>
        </p:nvSpPr>
        <p:spPr>
          <a:xfrm>
            <a:off x="8938036" y="3983201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739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B62004-5E49-4773-B4B5-84AF41BB96EB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9267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EADEBA-DF16-4B5D-BE1E-57EE72F8F6D1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1450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3025A6-DB3F-470D-B937-AFAAE47617E5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391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864567-8162-4155-B1E9-DE1F013BF0D3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2887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DB5CCC-81A9-4A8B-9CC0-9CB4A437A475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5218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F31191-CECC-4FBF-A131-AA44E5A7063D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13247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8580B4-9BE4-48F8-9B56-A0B6B2217526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75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3CE206-4B43-4221-9414-6307E0009EA5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2682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79D32B4-003E-4614-B8A9-5E16A072CAE7}" type="datetime1">
              <a:rPr lang="fr-FR" noProof="0" smtClean="0"/>
              <a:t>30/12/2025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32BDE3A-8A5F-47C4-AA75-58FC1EB2D38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718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61" r:id="rId5"/>
    <p:sldLayoutId id="214748365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Marqo/deepfashion-multimodal" TargetMode="External"/><Relationship Id="rId2" Type="http://schemas.openxmlformats.org/officeDocument/2006/relationships/hyperlink" Target="https://www.kaggle.com/datasets/ryanbadai/clothe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rello.com/b/IduHuM7H/ai-engineer-p9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docs/pricin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cnil.fr/fr/comprendre-le-rgpd/les-six-grands-principes-du-rgpd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nil.fr/fr/ia-garantir-la-securite-du-developpemen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 </a:t>
            </a:r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Projet IA </a:t>
            </a:r>
            <a:br>
              <a:rPr lang="fr-FR" b="1" i="0" dirty="0">
                <a:solidFill>
                  <a:srgbClr val="271A38"/>
                </a:solidFill>
                <a:effectLst/>
                <a:latin typeface="Inter"/>
              </a:rPr>
            </a:br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Recommandations</a:t>
            </a:r>
            <a:endParaRPr lang="fr-FR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Développement d’une application mobile de recommandation d’articles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F87449-B4F4-5246-8778-0B27CDA4B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205" y="62049"/>
            <a:ext cx="2322205" cy="9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7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Contexte et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24066-7F1B-B6FE-96F6-8985488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77" y="1373904"/>
            <a:ext cx="11501845" cy="5005778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/>
              <a:t>Contexte du projet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Développement d’une application mobile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Recommandations vestimentaires par photo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Augmentation le chiffre d’affaires</a:t>
            </a:r>
          </a:p>
          <a:p>
            <a:pPr lvl="1" indent="0">
              <a:buNone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/>
              <a:t>Objectifs de cadrage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Focus POC : Pantalons &amp; Jean / Chemises &amp; blouses / Vestes et manteaux (61% du CA)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Brique technique IA/ML pour la recommandation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Estimer la durée d’implémentation de la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217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Valeur ajoutée de l’IA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24066-7F1B-B6FE-96F6-8985488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525816"/>
            <a:ext cx="4982936" cy="500577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/>
              <a:t>Personnalisation : </a:t>
            </a:r>
          </a:p>
          <a:p>
            <a:pPr marL="971550" lvl="1" indent="-285750"/>
            <a:r>
              <a:rPr lang="fr-FR" dirty="0"/>
              <a:t>Photos utilisateur</a:t>
            </a:r>
          </a:p>
          <a:p>
            <a:pPr lvl="1" indent="0">
              <a:buNone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/>
              <a:t>Analyse automatique du style vestimentaire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/>
              <a:t>Potentiel d’augmentation du panier moyen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17FC05-0E9E-8FE0-5D7E-7B5307B0D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791" y="1496087"/>
            <a:ext cx="6441959" cy="41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3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Approche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24066-7F1B-B6FE-96F6-8985488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4" y="1447060"/>
            <a:ext cx="11501845" cy="500577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sz="2400" b="1" dirty="0"/>
              <a:t>Fonctionnalité centrale </a:t>
            </a:r>
            <a:r>
              <a:rPr lang="fr-FR" sz="2400" dirty="0"/>
              <a:t>: Recommandation de vêtements à partir de photos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Technologies IA </a:t>
            </a:r>
            <a:r>
              <a:rPr lang="fr-FR" sz="2400" dirty="0"/>
              <a:t>: Classification d’images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Données </a:t>
            </a:r>
            <a:r>
              <a:rPr lang="fr-FR" sz="2400" dirty="0"/>
              <a:t>: 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/>
              <a:t>875 références produits avec images multi-angles</a:t>
            </a:r>
          </a:p>
          <a:p>
            <a:pPr marL="971550" lvl="1" indent="-285750">
              <a:lnSpc>
                <a:spcPct val="150000"/>
              </a:lnSpc>
            </a:pPr>
            <a:r>
              <a:rPr lang="fr-FR" dirty="0" err="1"/>
              <a:t>Datasets</a:t>
            </a:r>
            <a:r>
              <a:rPr lang="fr-FR" dirty="0"/>
              <a:t> publics de vêtements </a:t>
            </a:r>
          </a:p>
          <a:p>
            <a:pPr marL="1428750" lvl="2" indent="-285750">
              <a:lnSpc>
                <a:spcPct val="150000"/>
              </a:lnSpc>
            </a:pPr>
            <a:r>
              <a:rPr lang="fr-FR" dirty="0">
                <a:hlinkClick r:id="rId2"/>
              </a:rPr>
              <a:t>https://www.kaggle.com/datasets/ryanbadai/clothes-dataset</a:t>
            </a:r>
            <a:endParaRPr lang="fr-FR" dirty="0"/>
          </a:p>
          <a:p>
            <a:pPr marL="1428750" lvl="2" indent="-285750">
              <a:lnSpc>
                <a:spcPct val="150000"/>
              </a:lnSpc>
            </a:pPr>
            <a:r>
              <a:rPr lang="fr-FR" dirty="0">
                <a:hlinkClick r:id="rId3"/>
              </a:rPr>
              <a:t>https://huggingface.co/datasets/Marqo/deepfashion-multimodal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sz="2400" b="1" dirty="0"/>
              <a:t>Plateforme </a:t>
            </a:r>
            <a:r>
              <a:rPr lang="fr-FR" sz="2400" dirty="0"/>
              <a:t>: Microsoft Azure</a:t>
            </a:r>
          </a:p>
          <a:p>
            <a:pPr marL="285750" indent="-285750"/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272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10319658" cy="965477"/>
          </a:xfrm>
        </p:spPr>
        <p:txBody>
          <a:bodyPr>
            <a:normAutofit/>
          </a:bodyPr>
          <a:lstStyle/>
          <a:p>
            <a:r>
              <a:rPr lang="fr-FR" sz="4000" dirty="0"/>
              <a:t>Approche </a:t>
            </a:r>
            <a:r>
              <a:rPr lang="fr-FR" dirty="0"/>
              <a:t>technique : LLM multimodal</a:t>
            </a:r>
            <a:endParaRPr lang="fr-FR" sz="40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342D7B7-160C-E41E-E377-E23E25E98F9A}"/>
              </a:ext>
            </a:extLst>
          </p:cNvPr>
          <p:cNvSpPr txBox="1">
            <a:spLocks/>
          </p:cNvSpPr>
          <p:nvPr/>
        </p:nvSpPr>
        <p:spPr>
          <a:xfrm>
            <a:off x="636814" y="1599460"/>
            <a:ext cx="11501845" cy="5005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A1E79FD-291C-E8BE-BA13-CBD9FD5F3403}"/>
              </a:ext>
            </a:extLst>
          </p:cNvPr>
          <p:cNvSpPr txBox="1">
            <a:spLocks/>
          </p:cNvSpPr>
          <p:nvPr/>
        </p:nvSpPr>
        <p:spPr>
          <a:xfrm>
            <a:off x="545374" y="1290306"/>
            <a:ext cx="11501845" cy="5005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sz="2400" b="1" dirty="0">
                <a:effectLst/>
              </a:rPr>
              <a:t>1. Enrichissement du catalogue</a:t>
            </a:r>
            <a:endParaRPr lang="fr-FR" sz="2400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« Vision » LLM analyse chaque vêtement (image + fiche produit) </a:t>
            </a: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Génère un vecteur stocké dans une base vectorielle (+ ID produit)</a:t>
            </a: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Ingestion initiale + itération à chaque ajout de produit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effectLst/>
            </a:endParaRPr>
          </a:p>
          <a:p>
            <a:pPr>
              <a:lnSpc>
                <a:spcPct val="100000"/>
              </a:lnSpc>
            </a:pPr>
            <a:r>
              <a:rPr lang="fr-FR" sz="2400" b="1" dirty="0">
                <a:effectLst/>
              </a:rPr>
              <a:t>2. Analyse utilisateur </a:t>
            </a:r>
            <a:endParaRPr lang="fr-FR" sz="2400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L'utilisateur envoie une photo </a:t>
            </a:r>
            <a:r>
              <a:rPr lang="fr-FR" b="1" u="sng" dirty="0">
                <a:effectLst/>
              </a:rPr>
              <a:t>ou</a:t>
            </a:r>
            <a:r>
              <a:rPr lang="fr-FR" dirty="0">
                <a:effectLst/>
              </a:rPr>
              <a:t> renseigne ses préférences de style</a:t>
            </a: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LLM extrait son profil style → vecteur de recherche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effectLst/>
            </a:endParaRPr>
          </a:p>
          <a:p>
            <a:pPr>
              <a:lnSpc>
                <a:spcPct val="100000"/>
              </a:lnSpc>
            </a:pPr>
            <a:r>
              <a:rPr lang="fr-FR" sz="2400" b="1" dirty="0">
                <a:effectLst/>
              </a:rPr>
              <a:t>3. Recommandation</a:t>
            </a:r>
            <a:endParaRPr lang="fr-FR" sz="2400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Recherche par similarité dans la base vectorielle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effectLst/>
              </a:rPr>
              <a:t> 		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fr-FR" sz="1700" i="1" dirty="0">
                <a:solidFill>
                  <a:schemeClr val="bg1">
                    <a:lumMod val="65000"/>
                  </a:schemeClr>
                </a:solidFill>
              </a:rPr>
              <a:t>(à partir de la photo OU des préférences utilisateur)</a:t>
            </a:r>
            <a:endParaRPr lang="fr-FR" sz="1700" i="1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1">
              <a:lnSpc>
                <a:spcPct val="100000"/>
              </a:lnSpc>
            </a:pPr>
            <a:r>
              <a:rPr lang="fr-FR" dirty="0">
                <a:effectLst/>
              </a:rPr>
              <a:t>Retour des IDs produits → affichage des articles recommandés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73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Critères de succès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24066-7F1B-B6FE-96F6-8985488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64" y="1713760"/>
            <a:ext cx="11501845" cy="5005778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fr-FR" sz="2400" b="1" dirty="0"/>
              <a:t>Performance </a:t>
            </a:r>
            <a:r>
              <a:rPr lang="fr-FR" sz="2400" dirty="0"/>
              <a:t>: Temps de réponse &lt; 5s</a:t>
            </a:r>
          </a:p>
          <a:p>
            <a:pPr>
              <a:lnSpc>
                <a:spcPct val="250000"/>
              </a:lnSpc>
            </a:pPr>
            <a:r>
              <a:rPr lang="fr-FR" sz="2400" b="1" dirty="0"/>
              <a:t>Faisabilité technique </a:t>
            </a:r>
            <a:r>
              <a:rPr lang="fr-FR" sz="2400" dirty="0"/>
              <a:t>: Validation de l’architecture Azure</a:t>
            </a:r>
          </a:p>
          <a:p>
            <a:pPr>
              <a:lnSpc>
                <a:spcPct val="250000"/>
              </a:lnSpc>
            </a:pPr>
            <a:r>
              <a:rPr lang="fr-FR" sz="2400" b="1" dirty="0"/>
              <a:t>Acceptation métier </a:t>
            </a:r>
            <a:r>
              <a:rPr lang="fr-FR" sz="2400" dirty="0"/>
              <a:t>: </a:t>
            </a:r>
            <a:r>
              <a:rPr lang="fr-FR" sz="2400" i="1" dirty="0">
                <a:solidFill>
                  <a:schemeClr val="tx1"/>
                </a:solidFill>
              </a:rPr>
              <a:t>métrique top-k </a:t>
            </a:r>
            <a:r>
              <a:rPr lang="fr-FR" sz="2400" i="1" dirty="0" err="1">
                <a:solidFill>
                  <a:schemeClr val="tx1"/>
                </a:solidFill>
              </a:rPr>
              <a:t>accuracy</a:t>
            </a:r>
            <a:r>
              <a:rPr lang="fr-FR" sz="2400" i="1" dirty="0">
                <a:solidFill>
                  <a:schemeClr val="tx1"/>
                </a:solidFill>
              </a:rPr>
              <a:t>  : 1 image recommandée sur 5 est  choisie</a:t>
            </a:r>
            <a:endParaRPr lang="fr-FR" sz="24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fr-FR" sz="2400" dirty="0"/>
              <a:t>			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723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User Stories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1733DDD-0DCF-9E0A-4438-3F4D7828B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1194725"/>
            <a:ext cx="11231879" cy="2585545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US-1 Compte utilisateur nominatif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US-2 Se prendre en photo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US-3 Gérer sa collection de photos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US-4 Renseigner ses préférences de styles de vêtements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7030A0"/>
                </a:solidFill>
              </a:rPr>
              <a:t>US-5 Recevoir des recommandations basées sur les photos 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7030A0"/>
                </a:solidFill>
              </a:rPr>
              <a:t>US-6 Recevoir des recommandations basées sur ses préférences de styles de vêtements 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US-7 Interagir avec les recommandations : Personnalisation et avis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7030A0"/>
                </a:solidFill>
              </a:rPr>
              <a:t>US-8 Gestion des données personnelles RGPD *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34F528-1711-58AA-FFD6-F688C1395090}"/>
              </a:ext>
            </a:extLst>
          </p:cNvPr>
          <p:cNvSpPr txBox="1"/>
          <p:nvPr/>
        </p:nvSpPr>
        <p:spPr>
          <a:xfrm>
            <a:off x="71844" y="6146465"/>
            <a:ext cx="75002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solidFill>
                  <a:srgbClr val="002060"/>
                </a:solidFill>
              </a:rPr>
              <a:t>Voir détail : </a:t>
            </a:r>
            <a:r>
              <a:rPr lang="fr-FR" sz="1200" i="1" dirty="0">
                <a:solidFill>
                  <a:srgbClr val="002060"/>
                </a:solidFill>
                <a:hlinkClick r:id="rId2"/>
              </a:rPr>
              <a:t>https://trello.com/b/IduHuM7H/ai-engineer-p9</a:t>
            </a:r>
            <a:endParaRPr lang="fr-FR" sz="1200" i="1" dirty="0">
              <a:solidFill>
                <a:srgbClr val="002060"/>
              </a:solidFill>
            </a:endParaRPr>
          </a:p>
          <a:p>
            <a:endParaRPr lang="fr-FR" sz="1200" i="1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05EAACF-8F31-C198-89A0-B34244D92C92}"/>
              </a:ext>
            </a:extLst>
          </p:cNvPr>
          <p:cNvSpPr txBox="1"/>
          <p:nvPr/>
        </p:nvSpPr>
        <p:spPr>
          <a:xfrm>
            <a:off x="10329666" y="6073867"/>
            <a:ext cx="179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*Périmètre Data</a:t>
            </a:r>
          </a:p>
        </p:txBody>
      </p:sp>
    </p:spTree>
    <p:extLst>
      <p:ext uri="{BB962C8B-B14F-4D97-AF65-F5344CB8AC3E}">
        <p14:creationId xmlns:p14="http://schemas.microsoft.com/office/powerpoint/2010/main" val="117926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138462"/>
            <a:ext cx="6934201" cy="965477"/>
          </a:xfrm>
        </p:spPr>
        <p:txBody>
          <a:bodyPr/>
          <a:lstStyle/>
          <a:p>
            <a:r>
              <a:rPr lang="fr-FR" dirty="0"/>
              <a:t>Exemples d’User Stories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358CD9F-6AD1-714B-A7EC-05825496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70000"/>
            <a:ext cx="5265738" cy="47561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9D63D8F-B209-5F57-7B76-4D11BFD67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37" y="1289050"/>
            <a:ext cx="5094695" cy="47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5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64CF5C-5E46-9D44-EDFD-49828C7D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953" y="1624704"/>
            <a:ext cx="6934201" cy="965477"/>
          </a:xfrm>
        </p:spPr>
        <p:txBody>
          <a:bodyPr>
            <a:normAutofit/>
          </a:bodyPr>
          <a:lstStyle/>
          <a:p>
            <a:r>
              <a:rPr lang="fr-FR" sz="6000" dirty="0"/>
              <a:t>System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D38B6-7EE6-9CD0-C1CF-8DF7E55A2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578" y="2647751"/>
            <a:ext cx="6934200" cy="2585545"/>
          </a:xfrm>
        </p:spPr>
        <p:txBody>
          <a:bodyPr>
            <a:normAutofit/>
          </a:bodyPr>
          <a:lstStyle/>
          <a:p>
            <a:r>
              <a:rPr lang="fr-FR" sz="2000" i="1" dirty="0"/>
              <a:t>Modélisation de la solution</a:t>
            </a:r>
          </a:p>
        </p:txBody>
      </p:sp>
    </p:spTree>
    <p:extLst>
      <p:ext uri="{BB962C8B-B14F-4D97-AF65-F5344CB8AC3E}">
        <p14:creationId xmlns:p14="http://schemas.microsoft.com/office/powerpoint/2010/main" val="45021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25A4A19-C0D8-2754-D18B-394B2ADF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0" y="134471"/>
            <a:ext cx="10399060" cy="614622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F1AFFD2-A482-8DC3-BB32-EFBB0027219E}"/>
              </a:ext>
            </a:extLst>
          </p:cNvPr>
          <p:cNvSpPr txBox="1"/>
          <p:nvPr/>
        </p:nvSpPr>
        <p:spPr>
          <a:xfrm>
            <a:off x="7073153" y="5800166"/>
            <a:ext cx="1673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/>
              <a:t>*self-</a:t>
            </a:r>
            <a:r>
              <a:rPr lang="fr-FR" sz="800" i="1" dirty="0" err="1"/>
              <a:t>hosted</a:t>
            </a:r>
            <a:r>
              <a:rPr lang="fr-FR" sz="800" i="1" dirty="0"/>
              <a:t> alternative: CLIP LLM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C1A8F90-AB97-9725-A364-5C3CCACFF8F9}"/>
              </a:ext>
            </a:extLst>
          </p:cNvPr>
          <p:cNvSpPr txBox="1"/>
          <p:nvPr/>
        </p:nvSpPr>
        <p:spPr>
          <a:xfrm>
            <a:off x="5954972" y="2770095"/>
            <a:ext cx="10550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/>
              <a:t>+ </a:t>
            </a:r>
            <a:r>
              <a:rPr lang="fr-FR" sz="800" i="1" dirty="0" err="1"/>
              <a:t>anonymized</a:t>
            </a:r>
            <a:r>
              <a:rPr lang="fr-FR" sz="800" i="1" dirty="0"/>
              <a:t> </a:t>
            </a:r>
            <a:r>
              <a:rPr lang="fr-FR" sz="800" i="1" dirty="0" err="1"/>
              <a:t>view</a:t>
            </a:r>
            <a:endParaRPr lang="fr-FR" sz="800" i="1" dirty="0"/>
          </a:p>
        </p:txBody>
      </p:sp>
    </p:spTree>
    <p:extLst>
      <p:ext uri="{BB962C8B-B14F-4D97-AF65-F5344CB8AC3E}">
        <p14:creationId xmlns:p14="http://schemas.microsoft.com/office/powerpoint/2010/main" val="192086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9B634DF4-86FA-CA2A-F86C-D54F29B6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206189"/>
            <a:ext cx="10078065" cy="622561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4CAF9BF-0A7A-10DA-996B-19F91D51F1F8}"/>
              </a:ext>
            </a:extLst>
          </p:cNvPr>
          <p:cNvSpPr txBox="1"/>
          <p:nvPr/>
        </p:nvSpPr>
        <p:spPr>
          <a:xfrm>
            <a:off x="1056098" y="606867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*Architecture scalable pour supporter 400k utilisateurs (estimation Marketing)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0D1CEC-837E-0AD2-01F4-4F71E048E8B4}"/>
              </a:ext>
            </a:extLst>
          </p:cNvPr>
          <p:cNvSpPr txBox="1"/>
          <p:nvPr/>
        </p:nvSpPr>
        <p:spPr>
          <a:xfrm>
            <a:off x="7360024" y="4204448"/>
            <a:ext cx="1673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/>
              <a:t>*self-</a:t>
            </a:r>
            <a:r>
              <a:rPr lang="fr-FR" sz="800" i="1" dirty="0" err="1"/>
              <a:t>hosted</a:t>
            </a:r>
            <a:r>
              <a:rPr lang="fr-FR" sz="800" i="1" dirty="0"/>
              <a:t> alternative: CLIP LLM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B25C2E-1BF3-13D3-8CB0-112003BE0E7B}"/>
              </a:ext>
            </a:extLst>
          </p:cNvPr>
          <p:cNvSpPr txBox="1"/>
          <p:nvPr/>
        </p:nvSpPr>
        <p:spPr>
          <a:xfrm>
            <a:off x="4422007" y="2725271"/>
            <a:ext cx="10550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/>
              <a:t>+ </a:t>
            </a:r>
            <a:r>
              <a:rPr lang="fr-FR" sz="800" i="1" dirty="0" err="1"/>
              <a:t>anonymized</a:t>
            </a:r>
            <a:r>
              <a:rPr lang="fr-FR" sz="800" i="1" dirty="0"/>
              <a:t> </a:t>
            </a:r>
            <a:r>
              <a:rPr lang="fr-FR" sz="800" i="1" dirty="0" err="1"/>
              <a:t>view</a:t>
            </a:r>
            <a:endParaRPr lang="fr-FR" sz="800" i="1" dirty="0"/>
          </a:p>
        </p:txBody>
      </p:sp>
    </p:spTree>
    <p:extLst>
      <p:ext uri="{BB962C8B-B14F-4D97-AF65-F5344CB8AC3E}">
        <p14:creationId xmlns:p14="http://schemas.microsoft.com/office/powerpoint/2010/main" val="88488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C803C-AFA1-DF97-A6EE-59C25AE2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77" y="104140"/>
            <a:ext cx="8018929" cy="965477"/>
          </a:xfrm>
        </p:spPr>
        <p:txBody>
          <a:bodyPr>
            <a:normAutofit/>
          </a:bodyPr>
          <a:lstStyle/>
          <a:p>
            <a:r>
              <a:rPr lang="fr-FR" sz="2800" dirty="0"/>
              <a:t>Responsabilités socle technique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E3E8E2-65C8-FFDA-6981-D4195979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61" y="2795256"/>
            <a:ext cx="1129427" cy="11169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F9D298-96C5-F1CF-139A-9E0587DC0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48" y="2832421"/>
            <a:ext cx="1129427" cy="10797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CB3EA93-60BD-1B0C-CA7D-658898DD9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261" y="4302102"/>
            <a:ext cx="1129427" cy="109456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D29F4BF-1198-C417-C9FF-78A09A5D9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939" y="4435031"/>
            <a:ext cx="1266825" cy="90487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5E10D4E-B79C-1C32-E13D-5350C51D8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708" y="4383764"/>
            <a:ext cx="1285875" cy="97155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E2601337-E777-35F8-81EE-CBB84A0854ED}"/>
              </a:ext>
            </a:extLst>
          </p:cNvPr>
          <p:cNvSpPr txBox="1"/>
          <p:nvPr/>
        </p:nvSpPr>
        <p:spPr>
          <a:xfrm>
            <a:off x="950258" y="3169064"/>
            <a:ext cx="1611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</a:t>
            </a:r>
            <a:r>
              <a:rPr lang="fr-FR" dirty="0" err="1"/>
              <a:t>Engineer</a:t>
            </a:r>
            <a:endParaRPr lang="fr-FR" dirty="0"/>
          </a:p>
          <a:p>
            <a:r>
              <a:rPr lang="fr-FR" dirty="0"/>
              <a:t>+ ML Ops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440E2AC-B69D-4F71-0DD9-69B83FFA401B}"/>
              </a:ext>
            </a:extLst>
          </p:cNvPr>
          <p:cNvSpPr txBox="1"/>
          <p:nvPr/>
        </p:nvSpPr>
        <p:spPr>
          <a:xfrm>
            <a:off x="1002592" y="4580075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</a:t>
            </a:r>
            <a:r>
              <a:rPr lang="fr-FR" dirty="0" err="1"/>
              <a:t>Scientist</a:t>
            </a:r>
            <a:endParaRPr lang="fr-FR" dirty="0"/>
          </a:p>
          <a:p>
            <a:r>
              <a:rPr lang="fr-FR" dirty="0"/>
              <a:t>+ ML Ops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0916B21-3B4D-245C-C56F-2CC2295FBF73}"/>
              </a:ext>
            </a:extLst>
          </p:cNvPr>
          <p:cNvSpPr txBox="1"/>
          <p:nvPr/>
        </p:nvSpPr>
        <p:spPr>
          <a:xfrm>
            <a:off x="927122" y="1923944"/>
            <a:ext cx="172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Tech Lead Data</a:t>
            </a:r>
          </a:p>
        </p:txBody>
      </p:sp>
    </p:spTree>
    <p:extLst>
      <p:ext uri="{BB962C8B-B14F-4D97-AF65-F5344CB8AC3E}">
        <p14:creationId xmlns:p14="http://schemas.microsoft.com/office/powerpoint/2010/main" val="3971054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FFAC9-E960-2557-32EF-83CB8AB1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5713"/>
            <a:ext cx="6934201" cy="965477"/>
          </a:xfrm>
        </p:spPr>
        <p:txBody>
          <a:bodyPr>
            <a:normAutofit/>
          </a:bodyPr>
          <a:lstStyle/>
          <a:p>
            <a:r>
              <a:rPr lang="fr-FR" sz="2800" dirty="0"/>
              <a:t>Chiffrage du projet Data &amp; IA</a:t>
            </a:r>
            <a:endParaRPr lang="fr-FR" sz="2800" dirty="0">
              <a:highlight>
                <a:srgbClr val="FFFF00"/>
              </a:highligh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24066-7F1B-B6FE-96F6-8985488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89" y="796620"/>
            <a:ext cx="11501845" cy="500577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</a:pPr>
            <a:r>
              <a:rPr lang="fr-FR" sz="2400" dirty="0"/>
              <a:t>Equipe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0D7C384-349C-8311-37B2-5DDE33BE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54289"/>
              </p:ext>
            </p:extLst>
          </p:nvPr>
        </p:nvGraphicFramePr>
        <p:xfrm>
          <a:off x="608223" y="1521677"/>
          <a:ext cx="4156407" cy="16059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31562">
                  <a:extLst>
                    <a:ext uri="{9D8B030D-6E8A-4147-A177-3AD203B41FA5}">
                      <a16:colId xmlns:a16="http://schemas.microsoft.com/office/drawing/2014/main" val="176453160"/>
                    </a:ext>
                  </a:extLst>
                </a:gridCol>
                <a:gridCol w="1824845">
                  <a:extLst>
                    <a:ext uri="{9D8B030D-6E8A-4147-A177-3AD203B41FA5}">
                      <a16:colId xmlns:a16="http://schemas.microsoft.com/office/drawing/2014/main" val="1232870504"/>
                    </a:ext>
                  </a:extLst>
                </a:gridCol>
              </a:tblGrid>
              <a:tr h="50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bg1"/>
                          </a:solidFill>
                        </a:rPr>
                        <a:t>Fonction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b="0" dirty="0">
                          <a:solidFill>
                            <a:schemeClr val="bg1"/>
                          </a:solidFill>
                        </a:rPr>
                        <a:t>Total par fonction (j / 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920602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Tech Lead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53016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547399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Scientist</a:t>
                      </a:r>
                      <a:r>
                        <a:rPr lang="fr-FR" sz="1200" dirty="0"/>
                        <a:t> / ML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57648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 err="1"/>
                        <a:t>MLOps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44667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B5C309D-4AB0-5E09-1309-C39BB11BA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08564"/>
              </p:ext>
            </p:extLst>
          </p:nvPr>
        </p:nvGraphicFramePr>
        <p:xfrm>
          <a:off x="608222" y="3773230"/>
          <a:ext cx="4156407" cy="16059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31562">
                  <a:extLst>
                    <a:ext uri="{9D8B030D-6E8A-4147-A177-3AD203B41FA5}">
                      <a16:colId xmlns:a16="http://schemas.microsoft.com/office/drawing/2014/main" val="176453160"/>
                    </a:ext>
                  </a:extLst>
                </a:gridCol>
                <a:gridCol w="1824845">
                  <a:extLst>
                    <a:ext uri="{9D8B030D-6E8A-4147-A177-3AD203B41FA5}">
                      <a16:colId xmlns:a16="http://schemas.microsoft.com/office/drawing/2014/main" val="1232870504"/>
                    </a:ext>
                  </a:extLst>
                </a:gridCol>
              </a:tblGrid>
              <a:tr h="50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bg1"/>
                          </a:solidFill>
                        </a:rPr>
                        <a:t>Fonction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b="0" dirty="0">
                          <a:solidFill>
                            <a:schemeClr val="bg1"/>
                          </a:solidFill>
                        </a:rPr>
                        <a:t>Total par fonction (j / 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920602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Tech Lead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646165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547399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Scientist</a:t>
                      </a:r>
                      <a:r>
                        <a:rPr lang="fr-FR" sz="1200" dirty="0"/>
                        <a:t> / ML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17031"/>
                  </a:ext>
                </a:extLst>
              </a:tr>
              <a:tr h="269307">
                <a:tc>
                  <a:txBody>
                    <a:bodyPr/>
                    <a:lstStyle/>
                    <a:p>
                      <a:pPr algn="l"/>
                      <a:r>
                        <a:rPr lang="fr-FR" sz="1200" dirty="0" err="1"/>
                        <a:t>MLOps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Engineer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57648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F7695402-3133-E888-135D-E17C8078E45D}"/>
              </a:ext>
            </a:extLst>
          </p:cNvPr>
          <p:cNvSpPr txBox="1"/>
          <p:nvPr/>
        </p:nvSpPr>
        <p:spPr>
          <a:xfrm>
            <a:off x="608222" y="3382240"/>
            <a:ext cx="25286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/>
              <a:t>Dont </a:t>
            </a:r>
            <a:r>
              <a:rPr lang="fr-FR" sz="1600" i="1" dirty="0" err="1"/>
              <a:t>PoC</a:t>
            </a:r>
            <a:r>
              <a:rPr lang="fr-FR" sz="1600" i="1" dirty="0"/>
              <a:t> (inclus) : 20 j / h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350048-C712-70F3-1CD6-3C09E63B7CD0}"/>
              </a:ext>
            </a:extLst>
          </p:cNvPr>
          <p:cNvSpPr txBox="1"/>
          <p:nvPr/>
        </p:nvSpPr>
        <p:spPr>
          <a:xfrm>
            <a:off x="608222" y="5374164"/>
            <a:ext cx="32258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/>
              <a:t>Total : 43 j / h</a:t>
            </a:r>
          </a:p>
          <a:p>
            <a:r>
              <a:rPr lang="fr-FR" i="1" dirty="0"/>
              <a:t>Total sécurisé (+20%) : 52 j / h</a:t>
            </a:r>
          </a:p>
          <a:p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8E5D5D6-2018-1057-E4C3-9DBD4BBD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74" y="2173069"/>
            <a:ext cx="5440010" cy="41692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E1E0C1B-C8DA-F705-205E-889D76A04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974" y="347296"/>
            <a:ext cx="5432209" cy="180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C1121A3-80E9-63FA-8369-CC20F1C46856}"/>
              </a:ext>
            </a:extLst>
          </p:cNvPr>
          <p:cNvSpPr txBox="1"/>
          <p:nvPr/>
        </p:nvSpPr>
        <p:spPr>
          <a:xfrm>
            <a:off x="272142" y="1165628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Phase 1 : semaines 1 à 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6F4742-66A4-3438-4341-69F5C2DDA7A2}"/>
              </a:ext>
            </a:extLst>
          </p:cNvPr>
          <p:cNvSpPr txBox="1"/>
          <p:nvPr/>
        </p:nvSpPr>
        <p:spPr>
          <a:xfrm>
            <a:off x="4034116" y="1157154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Phase 2 : semaines 4 à 8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A7123E-A1BA-7F5A-5160-9213969B3C3C}"/>
              </a:ext>
            </a:extLst>
          </p:cNvPr>
          <p:cNvSpPr txBox="1"/>
          <p:nvPr/>
        </p:nvSpPr>
        <p:spPr>
          <a:xfrm>
            <a:off x="7933764" y="1103939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Phase 3 : 3</a:t>
            </a:r>
            <a:r>
              <a:rPr lang="fr-FR" baseline="30000" dirty="0"/>
              <a:t>e</a:t>
            </a:r>
            <a:r>
              <a:rPr lang="fr-FR" dirty="0"/>
              <a:t> ,4</a:t>
            </a:r>
            <a:r>
              <a:rPr lang="fr-FR" baseline="30000" dirty="0"/>
              <a:t>e </a:t>
            </a:r>
            <a:r>
              <a:rPr lang="fr-FR" dirty="0"/>
              <a:t> mois +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55E454C-7A5C-4063-67B0-D0F30D86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89" y="124524"/>
            <a:ext cx="6934201" cy="965477"/>
          </a:xfrm>
        </p:spPr>
        <p:txBody>
          <a:bodyPr>
            <a:normAutofit/>
          </a:bodyPr>
          <a:lstStyle/>
          <a:p>
            <a:r>
              <a:rPr lang="fr-FR" sz="3600" dirty="0"/>
              <a:t>Planification équipe Data</a:t>
            </a:r>
            <a:endParaRPr lang="fr-FR" sz="3600" strike="sngStrike" dirty="0">
              <a:highlight>
                <a:srgbClr val="FFFF00"/>
              </a:highlight>
            </a:endParaRPr>
          </a:p>
        </p:txBody>
      </p:sp>
      <p:graphicFrame>
        <p:nvGraphicFramePr>
          <p:cNvPr id="28" name="Tableau 27">
            <a:extLst>
              <a:ext uri="{FF2B5EF4-FFF2-40B4-BE49-F238E27FC236}">
                <a16:creationId xmlns:a16="http://schemas.microsoft.com/office/drawing/2014/main" id="{432654BC-4DB8-BA8D-28EE-DC2A6C2D0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5396"/>
              </p:ext>
            </p:extLst>
          </p:nvPr>
        </p:nvGraphicFramePr>
        <p:xfrm>
          <a:off x="441466" y="1659676"/>
          <a:ext cx="11309067" cy="5073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69689">
                  <a:extLst>
                    <a:ext uri="{9D8B030D-6E8A-4147-A177-3AD203B41FA5}">
                      <a16:colId xmlns:a16="http://schemas.microsoft.com/office/drawing/2014/main" val="2277657716"/>
                    </a:ext>
                  </a:extLst>
                </a:gridCol>
                <a:gridCol w="3769689">
                  <a:extLst>
                    <a:ext uri="{9D8B030D-6E8A-4147-A177-3AD203B41FA5}">
                      <a16:colId xmlns:a16="http://schemas.microsoft.com/office/drawing/2014/main" val="3116008664"/>
                    </a:ext>
                  </a:extLst>
                </a:gridCol>
                <a:gridCol w="3769689">
                  <a:extLst>
                    <a:ext uri="{9D8B030D-6E8A-4147-A177-3AD203B41FA5}">
                      <a16:colId xmlns:a16="http://schemas.microsoft.com/office/drawing/2014/main" val="2969813251"/>
                    </a:ext>
                  </a:extLst>
                </a:gridCol>
              </a:tblGrid>
              <a:tr h="49121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213741"/>
                  </a:ext>
                </a:extLst>
              </a:tr>
              <a:tr h="491210">
                <a:tc>
                  <a:txBody>
                    <a:bodyPr/>
                    <a:lstStyle/>
                    <a:p>
                      <a:r>
                        <a:rPr lang="fr-FR" sz="1200" dirty="0"/>
                        <a:t>1 Tech Lead Data (40%) : Support architecture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 Tech Lead Data (25%) : Validation solution, recadrages, aide et suivi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err="1"/>
                        <a:t>MLOps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: Mise en place d’une solution de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592431"/>
                  </a:ext>
                </a:extLst>
              </a:tr>
              <a:tr h="781302">
                <a:tc>
                  <a:txBody>
                    <a:bodyPr/>
                    <a:lstStyle/>
                    <a:p>
                      <a:r>
                        <a:rPr lang="fr-FR" sz="1200" dirty="0"/>
                        <a:t>1 Data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(15-20%) : Compilation et mise à disposition des données </a:t>
                      </a:r>
                      <a:r>
                        <a:rPr lang="fr-FR" sz="1200" dirty="0" err="1"/>
                        <a:t>PoC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1 Data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(25%) : Création du référentiel de données complet + RGPD (anonymisation)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Scientist</a:t>
                      </a:r>
                      <a:r>
                        <a:rPr lang="fr-FR" sz="1200" dirty="0"/>
                        <a:t> : Monitoring de la qualité des recommandations, solution de suppression de données de la base vectorielle automatisée (retrait d’un article)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75678"/>
                  </a:ext>
                </a:extLst>
              </a:tr>
              <a:tr h="491210">
                <a:tc>
                  <a:txBody>
                    <a:bodyPr/>
                    <a:lstStyle/>
                    <a:p>
                      <a:r>
                        <a:rPr lang="fr-FR" sz="1200" dirty="0"/>
                        <a:t>1 </a:t>
                      </a:r>
                      <a:r>
                        <a:rPr lang="fr-FR" sz="1200" dirty="0" err="1"/>
                        <a:t>MLOps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(40%) : Mise en place et validation architecture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 </a:t>
                      </a:r>
                      <a:r>
                        <a:rPr lang="fr-FR" sz="1200" dirty="0" err="1"/>
                        <a:t>MLOps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(25%)  : Industrialisation de l’architecture Azure PROD-</a:t>
                      </a:r>
                      <a:r>
                        <a:rPr lang="fr-FR" sz="1200" dirty="0" err="1"/>
                        <a:t>ready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Data </a:t>
                      </a:r>
                      <a:r>
                        <a:rPr lang="fr-FR" sz="1200" dirty="0" err="1"/>
                        <a:t>Engineer</a:t>
                      </a:r>
                      <a:r>
                        <a:rPr lang="fr-FR" sz="1200" dirty="0"/>
                        <a:t> : RGPD (suppression automatique des données si inactivité)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59493"/>
                  </a:ext>
                </a:extLst>
              </a:tr>
              <a:tr h="781302">
                <a:tc>
                  <a:txBody>
                    <a:bodyPr/>
                    <a:lstStyle/>
                    <a:p>
                      <a:r>
                        <a:rPr lang="fr-FR" sz="1200" dirty="0"/>
                        <a:t>1 Data </a:t>
                      </a:r>
                      <a:r>
                        <a:rPr lang="fr-FR" sz="1200" dirty="0" err="1"/>
                        <a:t>Scientist</a:t>
                      </a:r>
                      <a:r>
                        <a:rPr lang="fr-FR" sz="1200" dirty="0"/>
                        <a:t> (80%) : Mise en place et validation de l’approche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1 Data </a:t>
                      </a:r>
                      <a:r>
                        <a:rPr lang="fr-FR" sz="1200" dirty="0" err="1"/>
                        <a:t>Scientist</a:t>
                      </a:r>
                      <a:r>
                        <a:rPr lang="fr-FR" sz="1200" dirty="0"/>
                        <a:t> (40%) : Optimisation, ingestion des données complètes, fin de l’industrialisation : coordination avec l’équipe mobile (usage de l’API, changements,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38233"/>
                  </a:ext>
                </a:extLst>
              </a:tr>
              <a:tr h="694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u="sng" dirty="0"/>
                        <a:t>Livrable 1 (</a:t>
                      </a:r>
                      <a:r>
                        <a:rPr lang="fr-FR" sz="1200" b="1" u="sng" dirty="0" err="1"/>
                        <a:t>MLOps</a:t>
                      </a:r>
                      <a:r>
                        <a:rPr lang="fr-FR" sz="1200" b="1" u="sng" dirty="0"/>
                        <a:t> </a:t>
                      </a:r>
                      <a:r>
                        <a:rPr lang="fr-FR" sz="1200" b="1" u="sng" dirty="0" err="1"/>
                        <a:t>Engineer</a:t>
                      </a:r>
                      <a:r>
                        <a:rPr lang="fr-FR" sz="1200" b="1" u="sng" dirty="0"/>
                        <a:t>)</a:t>
                      </a:r>
                      <a:r>
                        <a:rPr lang="fr-FR" sz="1200" dirty="0"/>
                        <a:t>: Prototype architecture Azure minimale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i="0" u="sng" dirty="0"/>
                        <a:t>Livrable</a:t>
                      </a:r>
                      <a:r>
                        <a:rPr lang="fr-FR" sz="1200" b="0" i="1" u="sng" dirty="0"/>
                        <a:t> </a:t>
                      </a:r>
                      <a:r>
                        <a:rPr lang="fr-FR" sz="1200" b="1" i="0" u="sng" dirty="0"/>
                        <a:t>1 (Data </a:t>
                      </a:r>
                      <a:r>
                        <a:rPr lang="fr-FR" sz="1200" b="1" i="0" u="sng" dirty="0" err="1"/>
                        <a:t>Scientist</a:t>
                      </a:r>
                      <a:r>
                        <a:rPr lang="fr-FR" sz="1200" b="1" i="0" u="sng" dirty="0"/>
                        <a:t>) : </a:t>
                      </a:r>
                      <a:r>
                        <a:rPr lang="fr-FR" sz="1200" b="0" i="0" u="none" dirty="0"/>
                        <a:t> Modèles finalisés, industrialisés (via API), PROD-</a:t>
                      </a:r>
                      <a:r>
                        <a:rPr lang="fr-FR" sz="1200" b="0" i="0" u="none" dirty="0" err="1"/>
                        <a:t>ready</a:t>
                      </a:r>
                      <a:endParaRPr lang="fr-FR" sz="1200" b="1" i="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459751"/>
                  </a:ext>
                </a:extLst>
              </a:tr>
              <a:tr h="694491">
                <a:tc>
                  <a:txBody>
                    <a:bodyPr/>
                    <a:lstStyle/>
                    <a:p>
                      <a:r>
                        <a:rPr lang="fr-FR" sz="1200" b="1" u="sng" dirty="0"/>
                        <a:t>Livrable 2 (Data </a:t>
                      </a:r>
                      <a:r>
                        <a:rPr lang="fr-FR" sz="1200" b="1" u="sng" dirty="0" err="1"/>
                        <a:t>Scientist</a:t>
                      </a:r>
                      <a:r>
                        <a:rPr lang="fr-FR" sz="1200" b="1" u="sng" dirty="0"/>
                        <a:t>) </a:t>
                      </a:r>
                      <a:r>
                        <a:rPr lang="fr-FR" sz="1200" dirty="0"/>
                        <a:t>: Prototype Visual </a:t>
                      </a:r>
                      <a:r>
                        <a:rPr lang="fr-FR" sz="1200" dirty="0" err="1"/>
                        <a:t>Search</a:t>
                      </a:r>
                      <a:r>
                        <a:rPr lang="fr-FR" sz="1200" dirty="0"/>
                        <a:t> sur Azure + API utilisable par l’équipe dev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i="0" u="sng" dirty="0"/>
                        <a:t>Livrable</a:t>
                      </a:r>
                      <a:r>
                        <a:rPr lang="fr-FR" sz="1200" b="0" i="1" u="sng" dirty="0"/>
                        <a:t> </a:t>
                      </a:r>
                      <a:r>
                        <a:rPr lang="fr-FR" sz="1200" b="1" i="0" u="none" dirty="0"/>
                        <a:t>2</a:t>
                      </a:r>
                      <a:r>
                        <a:rPr lang="fr-FR" sz="1200" b="1" i="0" u="sng" dirty="0"/>
                        <a:t> (Data </a:t>
                      </a:r>
                      <a:r>
                        <a:rPr lang="fr-FR" sz="1200" b="1" i="0" u="sng" dirty="0" err="1"/>
                        <a:t>Engineer</a:t>
                      </a:r>
                      <a:r>
                        <a:rPr lang="fr-FR" sz="1200" b="1" i="0" u="sng" dirty="0"/>
                        <a:t> / </a:t>
                      </a:r>
                      <a:r>
                        <a:rPr lang="fr-FR" sz="1200" b="1" i="0" u="sng" dirty="0" err="1"/>
                        <a:t>MLOps</a:t>
                      </a:r>
                      <a:r>
                        <a:rPr lang="fr-FR" sz="1200" b="1" i="0" u="sng" dirty="0"/>
                        <a:t>) : </a:t>
                      </a:r>
                      <a:r>
                        <a:rPr lang="fr-FR" sz="1200" b="0" i="0" u="none" dirty="0"/>
                        <a:t> Architecture Azure PROD-</a:t>
                      </a:r>
                      <a:r>
                        <a:rPr lang="fr-FR" sz="1200" b="0" i="0" u="none" dirty="0" err="1"/>
                        <a:t>ready</a:t>
                      </a:r>
                      <a:r>
                        <a:rPr lang="fr-FR" sz="1200" b="0" i="0" u="none" dirty="0"/>
                        <a:t> avec données complètes</a:t>
                      </a:r>
                      <a:endParaRPr lang="fr-FR" sz="1200" b="1" i="0" u="sng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689900"/>
                  </a:ext>
                </a:extLst>
              </a:tr>
              <a:tr h="49121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1" u="sng" dirty="0"/>
                        <a:t>Livrable final (+ équipe mobile) : Mise en production</a:t>
                      </a:r>
                      <a:endParaRPr lang="fr-FR" sz="1200" b="0" i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745217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116B3F91-852F-092C-BB76-18A712D8E092}"/>
              </a:ext>
            </a:extLst>
          </p:cNvPr>
          <p:cNvSpPr txBox="1"/>
          <p:nvPr/>
        </p:nvSpPr>
        <p:spPr>
          <a:xfrm>
            <a:off x="9470481" y="138602"/>
            <a:ext cx="2345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/>
              <a:t>Note : 1 semaine productive = 4j</a:t>
            </a:r>
          </a:p>
        </p:txBody>
      </p:sp>
      <p:sp>
        <p:nvSpPr>
          <p:cNvPr id="6" name="Google Shape;68;p14">
            <a:extLst>
              <a:ext uri="{FF2B5EF4-FFF2-40B4-BE49-F238E27FC236}">
                <a16:creationId xmlns:a16="http://schemas.microsoft.com/office/drawing/2014/main" id="{6ECAE2E9-39CA-63F4-7FCF-204902D30B7C}"/>
              </a:ext>
            </a:extLst>
          </p:cNvPr>
          <p:cNvSpPr/>
          <p:nvPr/>
        </p:nvSpPr>
        <p:spPr>
          <a:xfrm>
            <a:off x="10452664" y="506065"/>
            <a:ext cx="219900" cy="2199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9;p14">
            <a:extLst>
              <a:ext uri="{FF2B5EF4-FFF2-40B4-BE49-F238E27FC236}">
                <a16:creationId xmlns:a16="http://schemas.microsoft.com/office/drawing/2014/main" id="{45C809CB-E89E-B782-8ECF-065A1BC297A8}"/>
              </a:ext>
            </a:extLst>
          </p:cNvPr>
          <p:cNvSpPr txBox="1"/>
          <p:nvPr/>
        </p:nvSpPr>
        <p:spPr>
          <a:xfrm>
            <a:off x="10662785" y="486039"/>
            <a:ext cx="1120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 dirty="0">
                <a:latin typeface="Nunito"/>
                <a:ea typeface="Nunito"/>
                <a:cs typeface="Nunito"/>
                <a:sym typeface="Nunito"/>
              </a:rPr>
              <a:t>Copil</a:t>
            </a:r>
            <a:endParaRPr sz="7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70;p14">
            <a:extLst>
              <a:ext uri="{FF2B5EF4-FFF2-40B4-BE49-F238E27FC236}">
                <a16:creationId xmlns:a16="http://schemas.microsoft.com/office/drawing/2014/main" id="{67F6D9AF-56C8-3EDC-B43A-E8AAD7560FA4}"/>
              </a:ext>
            </a:extLst>
          </p:cNvPr>
          <p:cNvSpPr/>
          <p:nvPr/>
        </p:nvSpPr>
        <p:spPr>
          <a:xfrm>
            <a:off x="11084446" y="506065"/>
            <a:ext cx="219900" cy="2199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1;p14">
            <a:extLst>
              <a:ext uri="{FF2B5EF4-FFF2-40B4-BE49-F238E27FC236}">
                <a16:creationId xmlns:a16="http://schemas.microsoft.com/office/drawing/2014/main" id="{EFACB13D-C540-636B-1AE9-E3F03F38F248}"/>
              </a:ext>
            </a:extLst>
          </p:cNvPr>
          <p:cNvSpPr txBox="1"/>
          <p:nvPr/>
        </p:nvSpPr>
        <p:spPr>
          <a:xfrm>
            <a:off x="11304346" y="486039"/>
            <a:ext cx="1056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latin typeface="Nunito"/>
                <a:ea typeface="Nunito"/>
                <a:cs typeface="Nunito"/>
                <a:sym typeface="Nunito"/>
              </a:rPr>
              <a:t>Coproj</a:t>
            </a:r>
            <a:endParaRPr sz="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" name="Google Shape;68;p14">
            <a:extLst>
              <a:ext uri="{FF2B5EF4-FFF2-40B4-BE49-F238E27FC236}">
                <a16:creationId xmlns:a16="http://schemas.microsoft.com/office/drawing/2014/main" id="{28F8366E-E2BA-16D2-0795-CC454DBA4915}"/>
              </a:ext>
            </a:extLst>
          </p:cNvPr>
          <p:cNvSpPr/>
          <p:nvPr/>
        </p:nvSpPr>
        <p:spPr>
          <a:xfrm>
            <a:off x="4099935" y="1786645"/>
            <a:ext cx="219900" cy="2199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8;p14">
            <a:extLst>
              <a:ext uri="{FF2B5EF4-FFF2-40B4-BE49-F238E27FC236}">
                <a16:creationId xmlns:a16="http://schemas.microsoft.com/office/drawing/2014/main" id="{93DDF9EE-1072-DF23-3342-227FDFDA54BC}"/>
              </a:ext>
            </a:extLst>
          </p:cNvPr>
          <p:cNvSpPr/>
          <p:nvPr/>
        </p:nvSpPr>
        <p:spPr>
          <a:xfrm>
            <a:off x="7867513" y="1773890"/>
            <a:ext cx="219900" cy="2199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0;p14">
            <a:extLst>
              <a:ext uri="{FF2B5EF4-FFF2-40B4-BE49-F238E27FC236}">
                <a16:creationId xmlns:a16="http://schemas.microsoft.com/office/drawing/2014/main" id="{76C3CE98-29F5-BF0C-BA2A-15EB952A705B}"/>
              </a:ext>
            </a:extLst>
          </p:cNvPr>
          <p:cNvSpPr/>
          <p:nvPr/>
        </p:nvSpPr>
        <p:spPr>
          <a:xfrm>
            <a:off x="3547489" y="1247964"/>
            <a:ext cx="219900" cy="2199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0;p14">
            <a:extLst>
              <a:ext uri="{FF2B5EF4-FFF2-40B4-BE49-F238E27FC236}">
                <a16:creationId xmlns:a16="http://schemas.microsoft.com/office/drawing/2014/main" id="{66F2A102-6C17-E503-F356-6A1B251E6C39}"/>
              </a:ext>
            </a:extLst>
          </p:cNvPr>
          <p:cNvSpPr/>
          <p:nvPr/>
        </p:nvSpPr>
        <p:spPr>
          <a:xfrm>
            <a:off x="7291160" y="1231870"/>
            <a:ext cx="219900" cy="2199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endParaRPr sz="1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588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64CF5C-5E46-9D44-EDFD-49828C7D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953" y="1624704"/>
            <a:ext cx="6934201" cy="965477"/>
          </a:xfrm>
        </p:spPr>
        <p:txBody>
          <a:bodyPr>
            <a:normAutofit/>
          </a:bodyPr>
          <a:lstStyle/>
          <a:p>
            <a:r>
              <a:rPr lang="fr-FR" sz="6000" dirty="0"/>
              <a:t>Financement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D38B6-7EE6-9CD0-C1CF-8DF7E55A2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578" y="2647751"/>
            <a:ext cx="6934200" cy="2585545"/>
          </a:xfrm>
        </p:spPr>
        <p:txBody>
          <a:bodyPr>
            <a:normAutofit/>
          </a:bodyPr>
          <a:lstStyle/>
          <a:p>
            <a:r>
              <a:rPr lang="fr-FR" sz="2000" i="1" dirty="0"/>
              <a:t>Dimension économique et coûts de mise en </a:t>
            </a:r>
            <a:r>
              <a:rPr lang="fr-FR" sz="2000" i="1" dirty="0" err="1"/>
              <a:t>oeuvre</a:t>
            </a:r>
            <a:endParaRPr lang="fr-FR" sz="2000" i="1" dirty="0"/>
          </a:p>
        </p:txBody>
      </p:sp>
    </p:spTree>
    <p:extLst>
      <p:ext uri="{BB962C8B-B14F-4D97-AF65-F5344CB8AC3E}">
        <p14:creationId xmlns:p14="http://schemas.microsoft.com/office/powerpoint/2010/main" val="2877755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AA3642-B907-1309-0778-D5C93BB1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6" y="56606"/>
            <a:ext cx="6934201" cy="965477"/>
          </a:xfrm>
        </p:spPr>
        <p:txBody>
          <a:bodyPr/>
          <a:lstStyle/>
          <a:p>
            <a:r>
              <a:rPr lang="fr-FR" dirty="0"/>
              <a:t>Coût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C7AACDF-25EC-504E-9257-A8485CEC1E12}"/>
              </a:ext>
            </a:extLst>
          </p:cNvPr>
          <p:cNvSpPr txBox="1"/>
          <p:nvPr/>
        </p:nvSpPr>
        <p:spPr>
          <a:xfrm>
            <a:off x="80681" y="61847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 err="1"/>
              <a:t>OpenAI</a:t>
            </a:r>
            <a:r>
              <a:rPr lang="fr-FR" sz="1200" dirty="0"/>
              <a:t> Pricing : </a:t>
            </a:r>
            <a:r>
              <a:rPr lang="fr-FR" sz="1200" dirty="0">
                <a:hlinkClick r:id="rId2"/>
              </a:rPr>
              <a:t>https://platform.openai.com/docs/pricing</a:t>
            </a:r>
            <a:endParaRPr lang="fr-FR" sz="1200" dirty="0"/>
          </a:p>
          <a:p>
            <a:endParaRPr lang="fr-FR" sz="1200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865D5CA-5A3E-BB87-D551-91C5133D1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178394"/>
              </p:ext>
            </p:extLst>
          </p:nvPr>
        </p:nvGraphicFramePr>
        <p:xfrm>
          <a:off x="201706" y="1500336"/>
          <a:ext cx="4764741" cy="17181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06270">
                  <a:extLst>
                    <a:ext uri="{9D8B030D-6E8A-4147-A177-3AD203B41FA5}">
                      <a16:colId xmlns:a16="http://schemas.microsoft.com/office/drawing/2014/main" val="1805002680"/>
                    </a:ext>
                  </a:extLst>
                </a:gridCol>
                <a:gridCol w="1658471">
                  <a:extLst>
                    <a:ext uri="{9D8B030D-6E8A-4147-A177-3AD203B41FA5}">
                      <a16:colId xmlns:a16="http://schemas.microsoft.com/office/drawing/2014/main" val="3210522332"/>
                    </a:ext>
                  </a:extLst>
                </a:gridCol>
              </a:tblGrid>
              <a:tr h="205648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306049"/>
                  </a:ext>
                </a:extLst>
              </a:tr>
              <a:tr h="29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Ressources humaines 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7,5k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276190"/>
                  </a:ext>
                </a:extLst>
              </a:tr>
              <a:tr h="205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Ressources humaines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dirty="0"/>
                        <a:t>8,5k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892545"/>
                  </a:ext>
                </a:extLst>
              </a:tr>
              <a:tr h="29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Infrastructure </a:t>
                      </a:r>
                      <a:r>
                        <a:rPr lang="fr-FR" sz="800" i="1" dirty="0"/>
                        <a:t>(dont ingestion initiale)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b="0" i="1" dirty="0"/>
                        <a:t>&lt;1k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089862"/>
                  </a:ext>
                </a:extLst>
              </a:tr>
              <a:tr h="29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i="1" dirty="0"/>
                        <a:t>Marge de Sécurité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fr-FR" sz="800" b="0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470126"/>
                  </a:ext>
                </a:extLst>
              </a:tr>
              <a:tr h="29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 b="1" dirty="0"/>
                        <a:t>~ 20k€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20256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4D40E99-F654-28EE-7ED8-CAF173F7F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44253"/>
              </p:ext>
            </p:extLst>
          </p:nvPr>
        </p:nvGraphicFramePr>
        <p:xfrm>
          <a:off x="201706" y="3832715"/>
          <a:ext cx="11739281" cy="22200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95689">
                  <a:extLst>
                    <a:ext uri="{9D8B030D-6E8A-4147-A177-3AD203B41FA5}">
                      <a16:colId xmlns:a16="http://schemas.microsoft.com/office/drawing/2014/main" val="3914791688"/>
                    </a:ext>
                  </a:extLst>
                </a:gridCol>
                <a:gridCol w="1139132">
                  <a:extLst>
                    <a:ext uri="{9D8B030D-6E8A-4147-A177-3AD203B41FA5}">
                      <a16:colId xmlns:a16="http://schemas.microsoft.com/office/drawing/2014/main" val="332230579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3255064877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3819145409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1227524654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3229402772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2001866648"/>
                    </a:ext>
                  </a:extLst>
                </a:gridCol>
                <a:gridCol w="1467410">
                  <a:extLst>
                    <a:ext uri="{9D8B030D-6E8A-4147-A177-3AD203B41FA5}">
                      <a16:colId xmlns:a16="http://schemas.microsoft.com/office/drawing/2014/main" val="1108748461"/>
                    </a:ext>
                  </a:extLst>
                </a:gridCol>
              </a:tblGrid>
              <a:tr h="597856">
                <a:tc>
                  <a:txBody>
                    <a:bodyPr/>
                    <a:lstStyle/>
                    <a:p>
                      <a:r>
                        <a:rPr lang="fr-FR" sz="1200" dirty="0"/>
                        <a:t>Scénario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Utilisateurs /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Photos /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Modèle Vision (</a:t>
                      </a:r>
                      <a:r>
                        <a:rPr lang="fr-FR" sz="1200" dirty="0" err="1"/>
                        <a:t>gptX</a:t>
                      </a:r>
                      <a:r>
                        <a:rPr lang="fr-FR" sz="1200" dirty="0"/>
                        <a:t>-mini)*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Azure AI </a:t>
                      </a:r>
                      <a:r>
                        <a:rPr lang="fr-FR" sz="1200" dirty="0" err="1"/>
                        <a:t>Search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Total annuel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75008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MVP (Année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200k </a:t>
                      </a:r>
                      <a:r>
                        <a:rPr lang="fr-FR" sz="800" i="1" dirty="0">
                          <a:effectLst/>
                        </a:rPr>
                        <a:t>(40k actifs)</a:t>
                      </a:r>
                      <a:endParaRPr lang="fr-FR" sz="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4,8M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~9,5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~0,5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~1,2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~12k€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i="1" dirty="0">
                          <a:effectLst/>
                        </a:rPr>
                        <a:t>~23 k€</a:t>
                      </a:r>
                    </a:p>
                    <a:p>
                      <a:pPr algn="ctr"/>
                      <a:r>
                        <a:rPr lang="fr-FR" sz="800" b="0" i="1" dirty="0">
                          <a:effectLst/>
                        </a:rPr>
                        <a:t>+ ~20k€ coûts initiaux</a:t>
                      </a:r>
                    </a:p>
                    <a:p>
                      <a:pPr algn="ctr"/>
                      <a:r>
                        <a:rPr lang="fr-FR" sz="1200" b="1" i="0" dirty="0">
                          <a:effectLst/>
                        </a:rPr>
                        <a:t>~43 k€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54498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Prudent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400k </a:t>
                      </a:r>
                      <a:r>
                        <a:rPr lang="fr-FR" sz="800" i="1" dirty="0">
                          <a:effectLst/>
                        </a:rPr>
                        <a:t>(80k actifs)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9,6M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~19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~0,9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~2,4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~10k€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effectLst/>
                        </a:rPr>
                        <a:t>~32 k€</a:t>
                      </a:r>
                      <a:endParaRPr lang="fr-FR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766421"/>
                  </a:ext>
                </a:extLst>
              </a:tr>
              <a:tr h="609596"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Ambitieux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effectLst/>
                        </a:rPr>
                        <a:t>1M </a:t>
                      </a:r>
                      <a:r>
                        <a:rPr lang="fr-FR" sz="800" i="1" dirty="0">
                          <a:effectLst/>
                        </a:rPr>
                        <a:t>(200k actifs)</a:t>
                      </a:r>
                      <a:endParaRPr lang="fr-FR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24M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effectLst/>
                        </a:rPr>
                        <a:t>~48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~2,2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~4,8 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effectLst/>
                        </a:rPr>
                        <a:t>~10k€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effectLst/>
                        </a:rPr>
                        <a:t>~65 k€</a:t>
                      </a:r>
                      <a:endParaRPr lang="fr-FR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060364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20B0D1ED-FFF4-1B85-AA9F-047766172AA9}"/>
              </a:ext>
            </a:extLst>
          </p:cNvPr>
          <p:cNvSpPr txBox="1"/>
          <p:nvPr/>
        </p:nvSpPr>
        <p:spPr>
          <a:xfrm>
            <a:off x="201706" y="1141796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u="sng" dirty="0"/>
              <a:t>Coûts initiaux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49E08C-CE02-9276-3280-7D2AF493EAD4}"/>
              </a:ext>
            </a:extLst>
          </p:cNvPr>
          <p:cNvSpPr txBox="1"/>
          <p:nvPr/>
        </p:nvSpPr>
        <p:spPr>
          <a:xfrm>
            <a:off x="201706" y="3443522"/>
            <a:ext cx="2481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u="sng" dirty="0"/>
              <a:t>Coûts de fonctionnement</a:t>
            </a:r>
          </a:p>
        </p:txBody>
      </p:sp>
    </p:spTree>
    <p:extLst>
      <p:ext uri="{BB962C8B-B14F-4D97-AF65-F5344CB8AC3E}">
        <p14:creationId xmlns:p14="http://schemas.microsoft.com/office/powerpoint/2010/main" val="107705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5EF4995-8399-68B3-D286-63C83178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7" y="118941"/>
            <a:ext cx="6934201" cy="965477"/>
          </a:xfrm>
        </p:spPr>
        <p:txBody>
          <a:bodyPr/>
          <a:lstStyle/>
          <a:p>
            <a:r>
              <a:rPr lang="fr-FR" dirty="0"/>
              <a:t>Amortissement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AD241ED-8979-4C17-28B3-96A8CC64F1BE}"/>
              </a:ext>
            </a:extLst>
          </p:cNvPr>
          <p:cNvSpPr txBox="1"/>
          <p:nvPr/>
        </p:nvSpPr>
        <p:spPr>
          <a:xfrm>
            <a:off x="133734" y="6148874"/>
            <a:ext cx="4045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/>
              <a:t>Note : Montée en charge progressive : 50% la 1ere année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366BE7-4776-8B4E-00A3-0CA164F3A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1" y="2181818"/>
            <a:ext cx="5795752" cy="340798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3087449-23ED-CB7C-BAAB-B074C65E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529" y="2159275"/>
            <a:ext cx="5840911" cy="346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64CF5C-5E46-9D44-EDFD-49828C7D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953" y="1624704"/>
            <a:ext cx="6934201" cy="965477"/>
          </a:xfrm>
        </p:spPr>
        <p:txBody>
          <a:bodyPr>
            <a:normAutofit/>
          </a:bodyPr>
          <a:lstStyle/>
          <a:p>
            <a:r>
              <a:rPr lang="fr-FR" sz="6000" dirty="0"/>
              <a:t>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D38B6-7EE6-9CD0-C1CF-8DF7E55A2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578" y="2647751"/>
            <a:ext cx="6934200" cy="2585545"/>
          </a:xfrm>
        </p:spPr>
        <p:txBody>
          <a:bodyPr>
            <a:normAutofit/>
          </a:bodyPr>
          <a:lstStyle/>
          <a:p>
            <a:r>
              <a:rPr lang="fr-FR" sz="2000" i="1" dirty="0"/>
              <a:t>Gestion des données personnelles et réglementation</a:t>
            </a:r>
          </a:p>
        </p:txBody>
      </p:sp>
    </p:spTree>
    <p:extLst>
      <p:ext uri="{BB962C8B-B14F-4D97-AF65-F5344CB8AC3E}">
        <p14:creationId xmlns:p14="http://schemas.microsoft.com/office/powerpoint/2010/main" val="71022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C81BF7A-7F23-195B-B996-A41E70F4ABCD}"/>
              </a:ext>
            </a:extLst>
          </p:cNvPr>
          <p:cNvSpPr txBox="1">
            <a:spLocks/>
          </p:cNvSpPr>
          <p:nvPr/>
        </p:nvSpPr>
        <p:spPr>
          <a:xfrm>
            <a:off x="174812" y="0"/>
            <a:ext cx="9559738" cy="965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RGPD </a:t>
            </a:r>
            <a:r>
              <a:rPr lang="fr-FR" sz="2000" i="1" dirty="0"/>
              <a:t>Principes fondamentaux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A8683C-80C7-2AC5-DAD3-B0334AC4401D}"/>
              </a:ext>
            </a:extLst>
          </p:cNvPr>
          <p:cNvSpPr txBox="1"/>
          <p:nvPr/>
        </p:nvSpPr>
        <p:spPr>
          <a:xfrm>
            <a:off x="55562" y="6176851"/>
            <a:ext cx="91773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hlinkClick r:id="rId2"/>
              </a:rPr>
              <a:t>https://www.cnil.fr/fr/comprendre-le-rgpd/les-six-grands-principes-du-rgpd</a:t>
            </a:r>
            <a:endParaRPr lang="fr-FR" sz="1000" dirty="0"/>
          </a:p>
          <a:p>
            <a:endParaRPr lang="fr-FR" dirty="0"/>
          </a:p>
        </p:txBody>
      </p:sp>
      <p:pic>
        <p:nvPicPr>
          <p:cNvPr id="12" name="Image 11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140A564C-A3F8-5924-B739-6E0FEE3A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896934"/>
            <a:ext cx="7874000" cy="527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12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9A24D-9877-43C2-77C9-9FA518C8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57929"/>
            <a:ext cx="6934201" cy="965477"/>
          </a:xfrm>
        </p:spPr>
        <p:txBody>
          <a:bodyPr>
            <a:normAutofit/>
          </a:bodyPr>
          <a:lstStyle/>
          <a:p>
            <a:r>
              <a:rPr lang="fr-FR" dirty="0"/>
              <a:t>RGPD </a:t>
            </a:r>
            <a:r>
              <a:rPr lang="fr-FR" sz="2000" i="1" dirty="0"/>
              <a:t>Risques et mesures de mitigation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0E3E5F-9ECE-4327-B335-2CC76256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560" y="2090295"/>
            <a:ext cx="5161803" cy="39761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Légitimité du stockage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Consentement utilisateur (CGU)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Anonymisation données texte de l’utilisateur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Suppression des données inutilisées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/>
              <a:t>Données biométriques </a:t>
            </a:r>
            <a:r>
              <a:rPr lang="fr-FR" sz="1600" dirty="0"/>
              <a:t>: Floutage visage avant envoi à la base de données (via app mobile)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90D186-92DD-562D-C3B6-8F10D83048FC}"/>
              </a:ext>
            </a:extLst>
          </p:cNvPr>
          <p:cNvSpPr txBox="1"/>
          <p:nvPr/>
        </p:nvSpPr>
        <p:spPr>
          <a:xfrm>
            <a:off x="110006" y="6197084"/>
            <a:ext cx="6118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Recommandations : </a:t>
            </a:r>
            <a:r>
              <a:rPr lang="fr-FR" sz="1000" dirty="0">
                <a:hlinkClick r:id="rId2"/>
              </a:rPr>
              <a:t>https://cnil.fr/fr/ia-garantir-la-securite-du-developpement</a:t>
            </a:r>
            <a:endParaRPr lang="fr-FR" sz="1000" dirty="0"/>
          </a:p>
          <a:p>
            <a:endParaRPr lang="fr-FR" sz="10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9F7021C-78DA-1EE6-99BC-738CD6E26ACF}"/>
              </a:ext>
            </a:extLst>
          </p:cNvPr>
          <p:cNvSpPr txBox="1">
            <a:spLocks/>
          </p:cNvSpPr>
          <p:nvPr/>
        </p:nvSpPr>
        <p:spPr>
          <a:xfrm>
            <a:off x="651716" y="2090295"/>
            <a:ext cx="5161803" cy="3976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Stockage sans base légale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Absence de consentement éclairé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Perte ou fuite de données &amp; traitement par des tiers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Conservation excessive des données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lang="fr-F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>
                <a:sym typeface="Wingdings" panose="05000000000000000000" pitchFamily="2" charset="2"/>
              </a:rPr>
              <a:t>Amende jusqu’à 4% du CA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>
                <a:sym typeface="Wingdings" panose="05000000000000000000" pitchFamily="2" charset="2"/>
              </a:rPr>
              <a:t>Réputation de l’entreprise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804A8EF-AB21-242C-3DF3-7BBED8D80FF7}"/>
              </a:ext>
            </a:extLst>
          </p:cNvPr>
          <p:cNvSpPr txBox="1"/>
          <p:nvPr/>
        </p:nvSpPr>
        <p:spPr>
          <a:xfrm>
            <a:off x="6676249" y="1528774"/>
            <a:ext cx="103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Mesures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03312B-9FD3-0119-3898-C31FD2EBFEA8}"/>
              </a:ext>
            </a:extLst>
          </p:cNvPr>
          <p:cNvSpPr txBox="1"/>
          <p:nvPr/>
        </p:nvSpPr>
        <p:spPr>
          <a:xfrm>
            <a:off x="1016000" y="152877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Risques</a:t>
            </a:r>
          </a:p>
        </p:txBody>
      </p:sp>
    </p:spTree>
    <p:extLst>
      <p:ext uri="{BB962C8B-B14F-4D97-AF65-F5344CB8AC3E}">
        <p14:creationId xmlns:p14="http://schemas.microsoft.com/office/powerpoint/2010/main" val="202998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DF515-D0F4-4B90-4CD8-BE9ED07F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1EFB3F-C0F9-871E-3121-6C300A7DE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Michaël Gonzalez – Chef de projet IA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DA1C8E-0C9D-501F-77EC-8C9DA4D23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205" y="62049"/>
            <a:ext cx="2322205" cy="9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639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">
      <a:dk1>
        <a:sysClr val="windowText" lastClr="000000"/>
      </a:dk1>
      <a:lt1>
        <a:sysClr val="window" lastClr="FFFFFF"/>
      </a:lt1>
      <a:dk2>
        <a:srgbClr val="2D3C50"/>
      </a:dk2>
      <a:lt2>
        <a:srgbClr val="CBD1D1"/>
      </a:lt2>
      <a:accent1>
        <a:srgbClr val="46A0D8"/>
      </a:accent1>
      <a:accent2>
        <a:srgbClr val="CC5B27"/>
      </a:accent2>
      <a:accent3>
        <a:srgbClr val="33AC55"/>
      </a:accent3>
      <a:accent4>
        <a:srgbClr val="EE9F20"/>
      </a:accent4>
      <a:accent5>
        <a:srgbClr val="824D9D"/>
      </a:accent5>
      <a:accent6>
        <a:srgbClr val="3ABA99"/>
      </a:accent6>
      <a:hlink>
        <a:srgbClr val="0563C1"/>
      </a:hlink>
      <a:folHlink>
        <a:srgbClr val="954F72"/>
      </a:folHlink>
    </a:clrScheme>
    <a:fontScheme name="Custom 2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0898875_TF16401942_Win32" id="{097A1413-26D6-40B7-8868-9EF3C7EDC0D8}" vid="{903464D2-48A1-40F7-930E-A30BE90D59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44A853-FA74-45B4-AE5F-B3796F4BB94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0488788-02F3-4614-A0E2-F208657CD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4D194-9020-4D77-BCEE-37803F7241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</TotalTime>
  <Words>1083</Words>
  <Application>Microsoft Office PowerPoint</Application>
  <PresentationFormat>Grand écran</PresentationFormat>
  <Paragraphs>207</Paragraphs>
  <Slides>21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Inter</vt:lpstr>
      <vt:lpstr>Nunito</vt:lpstr>
      <vt:lpstr>Segoe UI</vt:lpstr>
      <vt:lpstr>Verdana</vt:lpstr>
      <vt:lpstr>Wingdings</vt:lpstr>
      <vt:lpstr>Thème Office</vt:lpstr>
      <vt:lpstr> Projet IA  Recommandations</vt:lpstr>
      <vt:lpstr>Contexte et objectifs</vt:lpstr>
      <vt:lpstr>Valeur ajoutée de l’IA</vt:lpstr>
      <vt:lpstr>Approche technique</vt:lpstr>
      <vt:lpstr>Approche technique : LLM multimodal</vt:lpstr>
      <vt:lpstr>Critères de succès</vt:lpstr>
      <vt:lpstr>User Stories</vt:lpstr>
      <vt:lpstr>Exemples d’User Stories</vt:lpstr>
      <vt:lpstr>System Design</vt:lpstr>
      <vt:lpstr>Présentation PowerPoint</vt:lpstr>
      <vt:lpstr>Présentation PowerPoint</vt:lpstr>
      <vt:lpstr>Responsabilités socle technique</vt:lpstr>
      <vt:lpstr>Chiffrage du projet Data &amp; IA</vt:lpstr>
      <vt:lpstr>Planification équipe Data</vt:lpstr>
      <vt:lpstr>Financement</vt:lpstr>
      <vt:lpstr>Coût du projet</vt:lpstr>
      <vt:lpstr>Amortissement</vt:lpstr>
      <vt:lpstr>RGPD</vt:lpstr>
      <vt:lpstr>Présentation PowerPoint</vt:lpstr>
      <vt:lpstr>RGPD Risques et mesures de mitigation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Michaël Gonzalez</dc:creator>
  <cp:lastModifiedBy>Michaël Gonzalez</cp:lastModifiedBy>
  <cp:revision>341</cp:revision>
  <dcterms:created xsi:type="dcterms:W3CDTF">2025-12-01T14:45:23Z</dcterms:created>
  <dcterms:modified xsi:type="dcterms:W3CDTF">2025-12-30T13:31:51Z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